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143000"/>
            <a:ext cx="146304" cy="146304"/>
          </a:xfrm>
          <a:prstGeom prst="rect">
            <a:avLst/>
          </a:prstGeom>
          <a:solidFill>
            <a:srgbClr val="3E6B8C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1143000"/>
            <a:ext cx="146304" cy="146304"/>
          </a:xfrm>
          <a:prstGeom prst="rect">
            <a:avLst/>
          </a:prstGeom>
          <a:solidFill>
            <a:srgbClr val="B4482B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1143000"/>
            <a:ext cx="146304" cy="14630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1143000"/>
            <a:ext cx="146304" cy="146304"/>
          </a:xfrm>
          <a:prstGeom prst="rect">
            <a:avLst/>
          </a:prstGeom>
          <a:solidFill>
            <a:srgbClr val="E8A13D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1143000"/>
            <a:ext cx="146304" cy="146304"/>
          </a:xfrm>
          <a:prstGeom prst="rect">
            <a:avLst/>
          </a:prstGeom>
          <a:solidFill>
            <a:srgbClr val="3E6B8C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1143000"/>
            <a:ext cx="146304" cy="146304"/>
          </a:xfrm>
          <a:prstGeom prst="rect">
            <a:avLst/>
          </a:prstGeom>
          <a:solidFill>
            <a:srgbClr val="B4482B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1143000"/>
            <a:ext cx="146304" cy="14630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9" name="Shape 7"/>
          <p:cNvSpPr/>
          <p:nvPr/>
        </p:nvSpPr>
        <p:spPr>
          <a:xfrm>
            <a:off x="2816352" y="1143000"/>
            <a:ext cx="146304" cy="146304"/>
          </a:xfrm>
          <a:prstGeom prst="rect">
            <a:avLst/>
          </a:prstGeom>
          <a:solidFill>
            <a:srgbClr val="E8A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🪂  BIR FESTIVAL 2026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Demo Guide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918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 for three days above the valley — architecture, what works today,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how it demos. A live, end-to-end verified build.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57607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2303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760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React Native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50592" y="57607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2303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450592" y="5760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Serverless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61104" y="57607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230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61104" y="5760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AppSync GraphQL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71616" y="57607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2303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71616" y="5760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OTP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882128" y="57607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2303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82128" y="5760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692640" y="5760720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2303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692640" y="576072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हिंदी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product · three surfaces · one event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429768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58368" cy="65836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584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025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 app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iOS · EXPO RN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festival in your pocket — works in airplane mode on the mountain.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&amp; QR wallet (offline)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schedule &amp; fly-status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passes, register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(EN/हिं)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SOS, lost-child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474720" cy="429768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965960"/>
            <a:ext cx="658368" cy="65836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6344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</a:t>
            </a:r>
            <a:endParaRPr lang="en-US" sz="1584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20025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console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SPA · 4-TIER ADMIN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 — organisers run the festival, not just watch it.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pricing, gates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Stalls, lodging, volunteers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refunds, incidents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&amp; Cognito users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log, fly-status, Get-the-app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3474720" cy="429768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12480" y="1965960"/>
            <a:ext cx="658368" cy="65836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412480" y="1965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584" dirty="0"/>
          </a:p>
        </p:txBody>
      </p:sp>
      <p:sp>
        <p:nvSpPr>
          <p:cNvPr id="21" name="Text 19"/>
          <p:cNvSpPr txBox="1"/>
          <p:nvPr/>
        </p:nvSpPr>
        <p:spPr>
          <a:xfrm>
            <a:off x="9189720" y="200253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 backend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2404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PAY-PER-REQUEST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— scales to the festival spike, idles at ≈ $0.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3840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AppSync GraphQL + REST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Lambda functions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single table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phone-OTP auth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S3 delivery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AT A GLANCE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Serverless, offline-first, two authenticated API layers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223038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Visitor app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677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 RN · offline SQLite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14400" y="292608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223038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3035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 Ops console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4-tier admin SPA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23360" y="155448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0463A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114800" y="16642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CloudFront CDN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1993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· media · APK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0" y="251460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0463A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26243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AppSync GraphQL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9535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auth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3474720"/>
            <a:ext cx="2286000" cy="731520"/>
          </a:xfrm>
          <a:prstGeom prst="roundRect">
            <a:avLst>
              <a:gd name="adj" fmla="val 10000"/>
            </a:avLst>
          </a:prstGeom>
          <a:solidFill>
            <a:srgbClr val="20463A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14800" y="3584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3913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/pay · /admin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9440" y="201168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2C3A31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212140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×15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4505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E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orders · pass-signer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E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AI · register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784080" y="141732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223038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875520" y="1417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784080" y="2075688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223038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0" y="207568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784080" y="2734056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223038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75520" y="273405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784080" y="3392424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223038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875520" y="339242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Pinpoint·SNS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784080" y="4050792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223038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0" y="405079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784080" y="47091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223038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875520" y="4709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 secrets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949440" y="4114800"/>
            <a:ext cx="2286000" cy="594360"/>
          </a:xfrm>
          <a:prstGeom prst="roundRect">
            <a:avLst>
              <a:gd name="adj" fmla="val 12308"/>
            </a:avLst>
          </a:prstGeom>
          <a:solidFill>
            <a:srgbClr val="2C3A31"/>
          </a:solidFill>
          <a:ln w="12700">
            <a:solidFill>
              <a:srgbClr val="33434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40880" y="4114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Anthropic API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291840" y="2194560"/>
            <a:ext cx="731520" cy="-228600"/>
          </a:xfrm>
          <a:prstGeom prst="line">
            <a:avLst/>
          </a:prstGeom>
          <a:noFill/>
          <a:ln w="19050">
            <a:solidFill>
              <a:srgbClr val="E8A13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291840" y="2743200"/>
            <a:ext cx="731520" cy="91440"/>
          </a:xfrm>
          <a:prstGeom prst="line">
            <a:avLst/>
          </a:prstGeom>
          <a:noFill/>
          <a:ln w="19050">
            <a:solidFill>
              <a:srgbClr val="E8A13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291840" y="3291840"/>
            <a:ext cx="731520" cy="457200"/>
          </a:xfrm>
          <a:prstGeom prst="line">
            <a:avLst/>
          </a:prstGeom>
          <a:noFill/>
          <a:ln w="19050">
            <a:solidFill>
              <a:srgbClr val="E8A13D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309360" y="2834640"/>
            <a:ext cx="640080" cy="0"/>
          </a:xfrm>
          <a:prstGeom prst="line">
            <a:avLst/>
          </a:prstGeom>
          <a:noFill/>
          <a:ln w="19050">
            <a:solidFill>
              <a:srgbClr val="E8A13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235440" y="2834640"/>
            <a:ext cx="548640" cy="-457200"/>
          </a:xfrm>
          <a:prstGeom prst="line">
            <a:avLst/>
          </a:prstGeom>
          <a:noFill/>
          <a:ln w="19050">
            <a:solidFill>
              <a:srgbClr val="E8A13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235440" y="2834640"/>
            <a:ext cx="548640" cy="274320"/>
          </a:xfrm>
          <a:prstGeom prst="line">
            <a:avLst/>
          </a:prstGeom>
          <a:noFill/>
          <a:ln w="19050">
            <a:solidFill>
              <a:srgbClr val="E8A1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092440" y="3749040"/>
            <a:ext cx="0" cy="365760"/>
          </a:xfrm>
          <a:prstGeom prst="line">
            <a:avLst/>
          </a:prstGeom>
          <a:noFill/>
          <a:ln w="19050">
            <a:solidFill>
              <a:srgbClr val="E8A13D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EB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50 resources in one Terraform stack (us-east-1). Two identity systems: Cognito phone-OTP for the public, a separate 4-tier admin for organisers.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core flows — server-authoritative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2996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0E7E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048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— phone OTP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523744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custom-auth issues a one-time code (000000 in demo). A first-time number self-registers and auto-confirms; tokens persist, offline-capable.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2996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0E7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0299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048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 pass — payment is the gate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523744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create-order prices from the catalog → provider → a signed webhook is the only thing that writes a confirmed entitlement. No webhook, no pass.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8736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0E7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1056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pass — offline &amp; verified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581144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pass-signer mints an ES256 pass; the gate scanner verifies the signature locally against a cached JWKS — no network needed.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794760"/>
            <a:ext cx="530352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8736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0E7E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1056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festival — control plane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581144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Organisers sign into the console; every /admin action is tier-gated, audited, and session-revokes instantly on disable.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5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 · VERIFIED END-TO-END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 works, on real infrastructure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93008" cy="202996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66928" cy="56692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364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9110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sign-in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532888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number + 000000 → a real Cognito session with all roles. Fixed the identity-pool bug that broke auth on every device.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00200"/>
            <a:ext cx="3493008" cy="202996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856232"/>
            <a:ext cx="566928" cy="56692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8576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364" dirty="0"/>
          </a:p>
        </p:txBody>
      </p:sp>
      <p:sp>
        <p:nvSpPr>
          <p:cNvPr id="12" name="Text 10"/>
          <p:cNvSpPr txBox="1"/>
          <p:nvPr/>
        </p:nvSpPr>
        <p:spPr>
          <a:xfrm>
            <a:off x="5285232" y="19110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backend↔app sync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2532888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 admin → it appears in the app. Schedule, announcements &amp; fly-status stream from AppSync in real time.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600200"/>
            <a:ext cx="3493008" cy="202996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856232"/>
            <a:ext cx="566928" cy="56692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8562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364" dirty="0"/>
          </a:p>
        </p:txBody>
      </p:sp>
      <p:sp>
        <p:nvSpPr>
          <p:cNvPr id="17" name="Text 15"/>
          <p:cNvSpPr txBox="1"/>
          <p:nvPr/>
        </p:nvSpPr>
        <p:spPr>
          <a:xfrm>
            <a:off x="8997696" y="1911096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 assistant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532888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4.5 answers festival questions from a seeded knowledge base — "from festival info," EN/हिं.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13048"/>
            <a:ext cx="3493008" cy="202996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4069080"/>
            <a:ext cx="566928" cy="56692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🎟️</a:t>
            </a:r>
            <a:endParaRPr lang="en-US" sz="1364" dirty="0"/>
          </a:p>
        </p:txBody>
      </p:sp>
      <p:sp>
        <p:nvSpPr>
          <p:cNvPr id="22" name="Text 20"/>
          <p:cNvSpPr txBox="1"/>
          <p:nvPr/>
        </p:nvSpPr>
        <p:spPr>
          <a:xfrm>
            <a:off x="1572768" y="412394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pass verification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96112" y="4745736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ES256 master pass + cached JWKS verify at the gate with no network. Fixed the JWKS fetch so verification actually works.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52544" y="3813048"/>
            <a:ext cx="3493008" cy="202996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4069080"/>
            <a:ext cx="566928" cy="56692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08576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1364" dirty="0"/>
          </a:p>
        </p:txBody>
      </p:sp>
      <p:sp>
        <p:nvSpPr>
          <p:cNvPr id="27" name="Text 25"/>
          <p:cNvSpPr txBox="1"/>
          <p:nvPr/>
        </p:nvSpPr>
        <p:spPr>
          <a:xfrm>
            <a:off x="5285232" y="412394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sample data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08576" y="4745736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announcements, orders, incidents, volunteers, stalls, wristbands, KB — plus a fully-populated demo account.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65008" y="3813048"/>
            <a:ext cx="3493008" cy="2029968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4069080"/>
            <a:ext cx="566928" cy="56692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2104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1364" dirty="0"/>
          </a:p>
        </p:txBody>
      </p:sp>
      <p:sp>
        <p:nvSpPr>
          <p:cNvPr id="32" name="Text 30"/>
          <p:cNvSpPr txBox="1"/>
          <p:nvPr/>
        </p:nvSpPr>
        <p:spPr>
          <a:xfrm>
            <a:off x="8997696" y="4123944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4745736"/>
            <a:ext cx="2990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QR landing page + a "Get the app" tab in the console. Any phone installs and signs in in one tap.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identity systems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— Cognito phone-OTP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514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3E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· PARTNERS · VOLUNTEERS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9718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phone number + OTP; no passwords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via Cognito groups: visitor · partner · volunteer · organiser-lite · admin-hospitality · safety-officer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enforces the group on every privileged mutation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auto-confirms a first-time number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3736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37960" y="2057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Organisers — 4-tier admin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5146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PLANE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97180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password, scrypt-hashed, HS256 JWT — separate from Cognito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Tiers: 1 Superadmin · 2 Admin · 3 Manager · 4 Coordinator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Admin-created vendors/volunteers provision a real login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Disable/delete revokes the session instantly; all actions audited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compliance posture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93976"/>
            <a:ext cx="201168" cy="201168"/>
          </a:xfrm>
          <a:prstGeom prst="ellipse">
            <a:avLst/>
          </a:prstGeom>
          <a:solidFill>
            <a:srgbClr val="2E5E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61872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Server-authoritative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2585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Entitlements come from signed payment webhooks; the client never writes its own access.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035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2093976"/>
            <a:ext cx="201168" cy="201168"/>
          </a:xfrm>
          <a:prstGeom prst="ellipse">
            <a:avLst/>
          </a:prstGeom>
          <a:solidFill>
            <a:srgbClr val="2E5E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39712" y="1874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fails closed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22585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SMS is live, a delivery failure never falls back to the demo code.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53035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3465576"/>
            <a:ext cx="201168" cy="201168"/>
          </a:xfrm>
          <a:prstGeom prst="ellipse">
            <a:avLst/>
          </a:prstGeom>
          <a:solidFill>
            <a:srgbClr val="2E5E4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61872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session revocation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36301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Disabling an admin invalidates their token on the next request.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063240"/>
            <a:ext cx="53035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465576"/>
            <a:ext cx="201168" cy="201168"/>
          </a:xfrm>
          <a:prstGeom prst="ellipse">
            <a:avLst/>
          </a:prstGeom>
          <a:solidFill>
            <a:srgbClr val="2E5E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39712" y="3246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throttle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36301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action logged; logins rate-limited and locked on abuse.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53035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837176"/>
            <a:ext cx="201168" cy="201168"/>
          </a:xfrm>
          <a:prstGeom prst="ellipse">
            <a:avLst/>
          </a:prstGeom>
          <a:solidFill>
            <a:srgbClr val="2E5E4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61872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consent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50017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versioned + timestamped; only contract-listed fields collected.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434840"/>
            <a:ext cx="530352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837176"/>
            <a:ext cx="201168" cy="201168"/>
          </a:xfrm>
          <a:prstGeom prst="ellipse">
            <a:avLst/>
          </a:prstGeom>
          <a:solidFill>
            <a:srgbClr val="2E5E4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39712" y="4617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signed passes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50017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ES256 + cached JWKS — gate verification is cryptographic, not a lookup.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today vs. before public launch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4114800"/>
          </a:xfrm>
          <a:prstGeom prst="roundRect">
            <a:avLst>
              <a:gd name="adj" fmla="val 2000"/>
            </a:avLst>
          </a:prstGeom>
          <a:solidFill>
            <a:srgbClr val="E6ECEA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WORKING IN THE DEMO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sign-in → seeded session (any number + 000000)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passes, QR wallet, gate verify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fly-status, bookings, home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(grounded, EN/हिं)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ops console control plane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admin→app sync + populated demo account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APK install via QR landing page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CF2E4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448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FLIP ON BEFORE LAUNCH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423160"/>
            <a:ext cx="4800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OTP — Fast2SMS + TRAI DLT (one switch; backend deployed)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— Paytm production merchant credentials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— Firebase FCM for closed-app safety alerts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— replace the CloudFront URL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signing — upload keystore for Play / App Store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compact pass QR for reliable in-camera scanning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94360"/>
            <a:ext cx="146304" cy="146304"/>
          </a:xfrm>
          <a:prstGeom prst="rect">
            <a:avLst/>
          </a:prstGeom>
          <a:solidFill>
            <a:srgbClr val="3E6B8C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" y="594360"/>
            <a:ext cx="146304" cy="146304"/>
          </a:xfrm>
          <a:prstGeom prst="rect">
            <a:avLst/>
          </a:prstGeom>
          <a:solidFill>
            <a:srgbClr val="B4482B"/>
          </a:solidFill>
          <a:ln/>
        </p:spPr>
      </p:sp>
      <p:sp>
        <p:nvSpPr>
          <p:cNvPr id="4" name="Shape 2"/>
          <p:cNvSpPr/>
          <p:nvPr/>
        </p:nvSpPr>
        <p:spPr>
          <a:xfrm>
            <a:off x="1261872" y="594360"/>
            <a:ext cx="146304" cy="14630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5" name="Shape 3"/>
          <p:cNvSpPr/>
          <p:nvPr/>
        </p:nvSpPr>
        <p:spPr>
          <a:xfrm>
            <a:off x="1572768" y="594360"/>
            <a:ext cx="146304" cy="146304"/>
          </a:xfrm>
          <a:prstGeom prst="rect">
            <a:avLst/>
          </a:prstGeom>
          <a:solidFill>
            <a:srgbClr val="E8A13D"/>
          </a:solidFill>
          <a:ln/>
        </p:spPr>
      </p:sp>
      <p:sp>
        <p:nvSpPr>
          <p:cNvPr id="6" name="Shape 4"/>
          <p:cNvSpPr/>
          <p:nvPr/>
        </p:nvSpPr>
        <p:spPr>
          <a:xfrm>
            <a:off x="1883664" y="594360"/>
            <a:ext cx="146304" cy="146304"/>
          </a:xfrm>
          <a:prstGeom prst="rect">
            <a:avLst/>
          </a:prstGeom>
          <a:solidFill>
            <a:srgbClr val="3E6B8C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594360"/>
            <a:ext cx="146304" cy="146304"/>
          </a:xfrm>
          <a:prstGeom prst="rect">
            <a:avLst/>
          </a:prstGeom>
          <a:solidFill>
            <a:srgbClr val="B4482B"/>
          </a:solidFill>
          <a:ln/>
        </p:spPr>
      </p:sp>
      <p:sp>
        <p:nvSpPr>
          <p:cNvPr id="8" name="Shape 6"/>
          <p:cNvSpPr/>
          <p:nvPr/>
        </p:nvSpPr>
        <p:spPr>
          <a:xfrm>
            <a:off x="2505456" y="594360"/>
            <a:ext cx="146304" cy="146304"/>
          </a:xfrm>
          <a:prstGeom prst="rect">
            <a:avLst/>
          </a:prstGeom>
          <a:solidFill>
            <a:srgbClr val="2E5E4E"/>
          </a:solidFill>
          <a:ln/>
        </p:spPr>
      </p:sp>
      <p:sp>
        <p:nvSpPr>
          <p:cNvPr id="9" name="Shape 7"/>
          <p:cNvSpPr/>
          <p:nvPr/>
        </p:nvSpPr>
        <p:spPr>
          <a:xfrm>
            <a:off x="2816352" y="594360"/>
            <a:ext cx="146304" cy="146304"/>
          </a:xfrm>
          <a:prstGeom prst="rect">
            <a:avLst/>
          </a:prstGeom>
          <a:solidFill>
            <a:srgbClr val="E8A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FIVE-MINUTE PITCH FLOW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35331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 value → depth → the ask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1E2A32"/>
          </a:solidFill>
          <a:ln w="12700">
            <a:solidFill>
              <a:srgbClr val="2C3A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E8A1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3134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 the phone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67919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any number + 000000. "No passwords — a visitor is in, in one tap, in their language."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1E2A32"/>
          </a:solidFill>
          <a:ln w="12700">
            <a:solidFill>
              <a:srgbClr val="2C3A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514600"/>
            <a:ext cx="457200" cy="457200"/>
          </a:xfrm>
          <a:prstGeom prst="ellipse">
            <a:avLst/>
          </a:prstGeom>
          <a:solidFill>
            <a:srgbClr val="E8A1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465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31343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pass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67919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wallet, airplane mode on, still verifies at the gate. "On the mountain there's no signal — the gate still works."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4747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1E2A32"/>
          </a:solidFill>
          <a:ln w="12700">
            <a:solidFill>
              <a:srgbClr val="2C3A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3840480"/>
            <a:ext cx="457200" cy="457200"/>
          </a:xfrm>
          <a:prstGeom prst="ellipse">
            <a:avLst/>
          </a:prstGeom>
          <a:solidFill>
            <a:srgbClr val="E8A1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assistant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400507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Hindi question about the schedule. "Grounded answers, both languages, no call centre."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47472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1E2A32"/>
          </a:solidFill>
          <a:ln w="12700">
            <a:solidFill>
              <a:srgbClr val="2C3A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46520" y="3840480"/>
            <a:ext cx="457200" cy="457200"/>
          </a:xfrm>
          <a:prstGeom prst="ellipse">
            <a:avLst/>
          </a:prstGeom>
          <a:solidFill>
            <a:srgbClr val="E8A13D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46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36393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the console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400507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competition, edit a price, process a refund. "Organisers run the festival live — no engineer, no deploy."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48006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1E2A32"/>
          </a:solidFill>
          <a:ln w="12700">
            <a:solidFill>
              <a:srgbClr val="2C3A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5166360"/>
            <a:ext cx="457200" cy="457200"/>
          </a:xfrm>
          <a:prstGeom prst="ellipse">
            <a:avLst/>
          </a:prstGeom>
          <a:solidFill>
            <a:srgbClr val="E8A13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86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1508760" y="49651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+ audit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508760" y="533095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SOS, then the audit log. "Every action is accountable."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4800600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1E2A32"/>
          </a:solidFill>
          <a:ln w="12700">
            <a:solidFill>
              <a:srgbClr val="2C3A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46520" y="5166360"/>
            <a:ext cx="457200" cy="457200"/>
          </a:xfrm>
          <a:prstGeom prst="ellipse">
            <a:avLst/>
          </a:prstGeom>
          <a:solidFill>
            <a:srgbClr val="E8A13D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4652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7086600" y="496519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the economics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086600" y="5330952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to the cost report. "All of this runs for low hundreds of dollars, and tears down cleanly."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credentials &amp; links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56816"/>
            <a:ext cx="475488" cy="47548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568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144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8836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(anyone)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494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10-digit number + OTP 000000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011680"/>
            <a:ext cx="5516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all-roles session, live backend sync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008376"/>
            <a:ext cx="475488" cy="47548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008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144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9352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demo account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300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90000 00001 + OTP 000000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063240"/>
            <a:ext cx="5516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pass, registrations, roster &amp; stall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11535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059936"/>
            <a:ext cx="475488" cy="475488"/>
          </a:xfrm>
          <a:prstGeom prst="ellipse">
            <a:avLst/>
          </a:prstGeom>
          <a:solidFill>
            <a:srgbClr val="E2E8E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🎛️</a:t>
            </a:r>
            <a:endParaRPr lang="en-US" sz="1144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39867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Staff dashboard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3525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admin username + password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760720" y="4114800"/>
            <a:ext cx="5516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console /admin · or app → Switch to Staff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E8EDF1"/>
          </a:solidFill>
          <a:ln w="12700">
            <a:solidFill>
              <a:srgbClr val="E2E4DF"/>
            </a:solidFill>
            <a:prstDash val="solid"/>
          </a:ln>
          <a:effectLst>
            <a:outerShdw sx="100000" sy="100000" kx="0" ky="0" algn="bl" rotWithShape="0" blurRad="114300" dist="25400" dir="5400000">
              <a:srgbClr val="9AA0A6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5230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Install landing page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577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03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d1s72f4chvwkuv.cloudfront.net/get/  ·  scan the QR poster, or grab it from the console's "Get the app" tab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Bir Festival 2026</dc:creator>
  <cp:lastModifiedBy>Bir Festival 2026</cp:lastModifiedBy>
  <cp:revision>1</cp:revision>
  <dcterms:created xsi:type="dcterms:W3CDTF">2026-09-05T06:29:16Z</dcterms:created>
  <dcterms:modified xsi:type="dcterms:W3CDTF">2026-09-05T06:29:16Z</dcterms:modified>
</cp:coreProperties>
</file>